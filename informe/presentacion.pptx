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Precio dinámico de transporte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Euler + red bayesiana + filtro de Kalman + regla de decisión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Asignatura Modelado, 2026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Persona 4: escenarios, datos, decisión e integración</a:t>
            </a:r>
          </a:p>
        </p:txBody>
      </p:sp>
      <p:pic>
        <p:nvPicPr>
          <p:cNvPr id="4" name="Picture 3" descr="diagram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1482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Modelo de Euler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p* = 7,86 Bs; Δt α (β + γ) = 1,75 &lt; 2: estable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 = −0,75: converge oscilando desde p0 = 10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Equilibrio en 60 min</a:t>
            </a:r>
          </a:p>
        </p:txBody>
      </p:sp>
      <p:pic>
        <p:nvPicPr>
          <p:cNvPr id="4" name="Picture 3" descr="escenario_A_converg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Escenarios B y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B (D0 = 100): p* = 22,14 Bs, máx. 32,81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 (S0 = 30): p* = 13,57 Bs, máx. 17,81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Perturbación entre los minutos 60 y 180</a:t>
            </a:r>
          </a:p>
        </p:txBody>
      </p:sp>
      <p:pic>
        <p:nvPicPr>
          <p:cNvPr id="4" name="Picture 3" descr="escenarios_A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Red bayesiana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Contexto → Tráfico → Demanda / Oferta → Escasez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Viernes 19:00 con lluvia y evento: P(escasez) = 0,69 (red experta)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Tabla de traducción calibrada: D0 = 47/54/65, S0 = 43/47/50</a:t>
            </a:r>
          </a:p>
        </p:txBody>
      </p:sp>
      <p:pic>
        <p:nvPicPr>
          <p:cNvPr id="4" name="Picture 3" descr="diagrama_red_bayes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0929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 D: filtro de Kalman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 frente a precio + solicitudes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Las solicitudes reducen el error de la demanda casi a la mitad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Cobertura de ±2 desviaciones ≈ 95 %</a:t>
            </a:r>
          </a:p>
        </p:txBody>
      </p:sp>
      <p:pic>
        <p:nvPicPr>
          <p:cNvPr id="4" name="Picture 3" descr="escenario_D_kal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Escenario E (datos sintéticos)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escasez D &gt; S no depende del contexto: el precio equilibra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tarifa alta sí: 1 % en valle, 63 % en punta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Regresión simple no recupera α, β, γ (identificabilidad)</a:t>
            </a:r>
          </a:p>
        </p:txBody>
      </p:sp>
      <p:pic>
        <p:nvPicPr>
          <p:cNvPr id="4" name="Picture 3" descr="E_frecuencias_con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Kalman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D0 y S0 del contexto (red calibrada) en el término B u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Error de predicción a un paso: 1,47 Bs; NIS ≈ 2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precio: 2,63 Bs</a:t>
            </a:r>
          </a:p>
        </p:txBody>
      </p:sp>
      <p:pic>
        <p:nvPicPr>
          <p:cNvPr id="4" name="Picture 3" descr="E_kalman_vier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Monte Carlo Bayes → Euler</a:t>
            </a:r>
          </a:p>
        </p:txBody>
      </p:sp>
      <p:pic>
        <p:nvPicPr>
          <p:cNvPr id="3" name="Picture 2" descr="montecarlo_ban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53157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1: sensibilidad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Subir α un 14 % lo vuelve inestable: límite de estabilidad (α &lt; 0,114)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 α/2: equilibrio en 10 min sin oscilar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β y γ mueven p* en sentidos opuestos; la dinámica depende de β + γ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Estimar con más precisión α y β</a:t>
            </a:r>
          </a:p>
        </p:txBody>
      </p:sp>
      <p:pic>
        <p:nvPicPr>
          <p:cNvPr id="4" name="Picture 3" descr="sensibilidad_paramet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609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4: umbral de tolerancia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Cerca de 18 Bs la demanda cae ~10 solicitudes por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Con α = 0,1 el precio salta entre 5 y 35 Bs: hay que bajar α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Solo precio: KF lineal 1,48 Bs, EKF 0,38 Bs, UKF 0,36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EKF suficiente; UKF más robusto al arranque</a:t>
            </a:r>
          </a:p>
        </p:txBody>
      </p:sp>
      <p:pic>
        <p:nvPicPr>
          <p:cNvPr id="4" name="Picture 3" descr="no_lineal_dinam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20890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Pregunta 6: lluvia vs hora punta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En la red: efectos casi aditivos (interacción ≈ 0,04)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En los datos, diferencia ingenua de la lluvia: +22,6 solicitudes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Regresión con todos los factores: +10,0 (generador: +10)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Hace falta lluvia fuera de la hora punta y registrar todo el contexto</a:t>
            </a:r>
          </a:p>
        </p:txBody>
      </p:sp>
      <p:pic>
        <p:nvPicPr>
          <p:cNvPr id="4" name="Picture 3" descr="pregunt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Decisión de tarifa (pregunta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INCENTIVAR si P(escasez) &gt; 0,30 y el límite inferior del precio &gt; 13 Bs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SUBIR si P(escasez) &gt; X y el precio aún no es alto con seguridad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B: +1,1 % servicios; C: +1,2 %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Permanencia mínima de 30 min para evitar parpadeo</a:t>
            </a:r>
          </a:p>
        </p:txBody>
      </p:sp>
      <p:pic>
        <p:nvPicPr>
          <p:cNvPr id="4" name="Picture 3" descr="decision_barr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6035040" cy="16973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solidFill>
                  <a:srgbClr val="000000"/>
                </a:solidFill>
                <a:latin typeface="Times New Roman"/>
              </a:defRPr>
            </a:pPr>
            <a:r>
              <a:t>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Integrar las capas mejora cada una (Kalman con contexto: error a menos de la mitad)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La tarifa alta es el indicador observable de escasez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El bono cuesta ~65 Bs por pasajero retenido: protege al pasajero, no es eficiente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Datos sintéticos: validan el sistema, no predicen el mercado real</a:t>
            </a:r>
          </a:p>
          <a:p>
            <a:pPr>
              <a:spcAft>
                <a:spcPts val="800"/>
              </a:spcAft>
              <a:defRPr sz="1800">
                <a:latin typeface="Times New Roman"/>
              </a:defRPr>
            </a:pPr>
            <a:r>
              <a:t>• Reproducible: pip install -r requirements.txt y python reproducir.py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